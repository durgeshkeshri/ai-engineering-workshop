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8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6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5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64" r:id="rId16"/>
    <p:sldId id="266" r:id="rId18"/>
    <p:sldId id="267" r:id="rId19"/>
    <p:sldId id="268" r:id="rId20"/>
    <p:sldId id="269" r:id="rId21"/>
    <p:sldId id="270" r:id="rId22"/>
    <p:sldId id="291" r:id="rId43"/>
    <p:sldId id="271" r:id="rId23"/>
    <p:sldId id="272" r:id="rId24"/>
    <p:sldId id="273" r:id="rId25"/>
    <p:sldId id="292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292059-71E8-4B02-B750-FA4F0C0BD32D}">
  <a:tblStyle styleId="{16292059-71E8-4B02-B750-FA4F0C0BD32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  
  
  
  
  
  <Relationship Id="rId43" Type="http://schemas.openxmlformats.org/officeDocument/2006/relationships/slide" Target="slides/slide36.xml"/>
  <Relationship Id="rId44" Type="http://schemas.openxmlformats.org/officeDocument/2006/relationships/slide" Target="slides/slide37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684714416_2_2:notes"/>
          <p:cNvSpPr/>
          <p:nvPr>
            <p:ph idx="2" type="sldImg"/>
          </p:nvPr>
        </p:nvSpPr>
        <p:spPr>
          <a:xfrm>
            <a:off x="678920" y="859400"/>
            <a:ext cx="5500159" cy="23203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684714416_2_2:notes"/>
          <p:cNvSpPr txBox="1"/>
          <p:nvPr>
            <p:ph idx="1" type="body"/>
          </p:nvPr>
        </p:nvSpPr>
        <p:spPr>
          <a:xfrm>
            <a:off x="685800" y="3308690"/>
            <a:ext cx="5486400" cy="2707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684714416_2_2:notes"/>
          <p:cNvSpPr txBox="1"/>
          <p:nvPr>
            <p:ph idx="12" type="sldNum"/>
          </p:nvPr>
        </p:nvSpPr>
        <p:spPr>
          <a:xfrm>
            <a:off x="3884613" y="6530246"/>
            <a:ext cx="2971800" cy="3449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684714416_4_0:notes"/>
          <p:cNvSpPr/>
          <p:nvPr>
            <p:ph idx="2" type="sldImg"/>
          </p:nvPr>
        </p:nvSpPr>
        <p:spPr>
          <a:xfrm>
            <a:off x="678920" y="859400"/>
            <a:ext cx="5500159" cy="23203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f684714416_4_0:notes"/>
          <p:cNvSpPr txBox="1"/>
          <p:nvPr>
            <p:ph idx="1" type="body"/>
          </p:nvPr>
        </p:nvSpPr>
        <p:spPr>
          <a:xfrm>
            <a:off x="685800" y="3308690"/>
            <a:ext cx="5486400" cy="2707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684714416_4_0:notes"/>
          <p:cNvSpPr txBox="1"/>
          <p:nvPr>
            <p:ph idx="12" type="sldNum"/>
          </p:nvPr>
        </p:nvSpPr>
        <p:spPr>
          <a:xfrm>
            <a:off x="3884613" y="6530246"/>
            <a:ext cx="2971800" cy="3449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684714416_4_42:notes"/>
          <p:cNvSpPr/>
          <p:nvPr>
            <p:ph idx="2" type="sldImg"/>
          </p:nvPr>
        </p:nvSpPr>
        <p:spPr>
          <a:xfrm>
            <a:off x="678920" y="859400"/>
            <a:ext cx="5500159" cy="23203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f684714416_4_42:notes"/>
          <p:cNvSpPr txBox="1"/>
          <p:nvPr>
            <p:ph idx="1" type="body"/>
          </p:nvPr>
        </p:nvSpPr>
        <p:spPr>
          <a:xfrm>
            <a:off x="685800" y="3308690"/>
            <a:ext cx="5486400" cy="2707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f684714416_4_42:notes"/>
          <p:cNvSpPr txBox="1"/>
          <p:nvPr>
            <p:ph idx="12" type="sldNum"/>
          </p:nvPr>
        </p:nvSpPr>
        <p:spPr>
          <a:xfrm>
            <a:off x="3884613" y="6530246"/>
            <a:ext cx="2971800" cy="3449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684714416_4_64:notes"/>
          <p:cNvSpPr/>
          <p:nvPr>
            <p:ph idx="2" type="sldImg"/>
          </p:nvPr>
        </p:nvSpPr>
        <p:spPr>
          <a:xfrm>
            <a:off x="678920" y="859400"/>
            <a:ext cx="5500159" cy="23203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f684714416_4_64:notes"/>
          <p:cNvSpPr txBox="1"/>
          <p:nvPr>
            <p:ph idx="1" type="body"/>
          </p:nvPr>
        </p:nvSpPr>
        <p:spPr>
          <a:xfrm>
            <a:off x="685800" y="3308690"/>
            <a:ext cx="5486400" cy="2707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684714416_4_64:notes"/>
          <p:cNvSpPr txBox="1"/>
          <p:nvPr>
            <p:ph idx="12" type="sldNum"/>
          </p:nvPr>
        </p:nvSpPr>
        <p:spPr>
          <a:xfrm>
            <a:off x="3884613" y="6530246"/>
            <a:ext cx="2971800" cy="3449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684714416_4_88:notes"/>
          <p:cNvSpPr/>
          <p:nvPr>
            <p:ph idx="2" type="sldImg"/>
          </p:nvPr>
        </p:nvSpPr>
        <p:spPr>
          <a:xfrm>
            <a:off x="678920" y="859400"/>
            <a:ext cx="5500159" cy="23203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f684714416_4_88:notes"/>
          <p:cNvSpPr txBox="1"/>
          <p:nvPr>
            <p:ph idx="1" type="body"/>
          </p:nvPr>
        </p:nvSpPr>
        <p:spPr>
          <a:xfrm>
            <a:off x="685800" y="3308690"/>
            <a:ext cx="5486400" cy="2707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684714416_4_88:notes"/>
          <p:cNvSpPr txBox="1"/>
          <p:nvPr>
            <p:ph idx="12" type="sldNum"/>
          </p:nvPr>
        </p:nvSpPr>
        <p:spPr>
          <a:xfrm>
            <a:off x="3884613" y="6530246"/>
            <a:ext cx="2971800" cy="3449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684714416_4_117:notes"/>
          <p:cNvSpPr/>
          <p:nvPr>
            <p:ph idx="2" type="sldImg"/>
          </p:nvPr>
        </p:nvSpPr>
        <p:spPr>
          <a:xfrm>
            <a:off x="678920" y="859400"/>
            <a:ext cx="5500159" cy="23203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f684714416_4_117:notes"/>
          <p:cNvSpPr txBox="1"/>
          <p:nvPr>
            <p:ph idx="1" type="body"/>
          </p:nvPr>
        </p:nvSpPr>
        <p:spPr>
          <a:xfrm>
            <a:off x="685800" y="3308690"/>
            <a:ext cx="5486400" cy="2707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684714416_4_117:notes"/>
          <p:cNvSpPr txBox="1"/>
          <p:nvPr>
            <p:ph idx="12" type="sldNum"/>
          </p:nvPr>
        </p:nvSpPr>
        <p:spPr>
          <a:xfrm>
            <a:off x="3884613" y="6530246"/>
            <a:ext cx="2971800" cy="3449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684714416_4_131:notes"/>
          <p:cNvSpPr/>
          <p:nvPr>
            <p:ph idx="2" type="sldImg"/>
          </p:nvPr>
        </p:nvSpPr>
        <p:spPr>
          <a:xfrm>
            <a:off x="678920" y="859400"/>
            <a:ext cx="5500159" cy="23203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f684714416_4_131:notes"/>
          <p:cNvSpPr txBox="1"/>
          <p:nvPr>
            <p:ph idx="1" type="body"/>
          </p:nvPr>
        </p:nvSpPr>
        <p:spPr>
          <a:xfrm>
            <a:off x="685800" y="3308690"/>
            <a:ext cx="5486400" cy="2707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f684714416_4_131:notes"/>
          <p:cNvSpPr txBox="1"/>
          <p:nvPr>
            <p:ph idx="12" type="sldNum"/>
          </p:nvPr>
        </p:nvSpPr>
        <p:spPr>
          <a:xfrm>
            <a:off x="3884613" y="6530246"/>
            <a:ext cx="2971800" cy="3449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684714416_4_161:notes"/>
          <p:cNvSpPr/>
          <p:nvPr>
            <p:ph idx="2" type="sldImg"/>
          </p:nvPr>
        </p:nvSpPr>
        <p:spPr>
          <a:xfrm>
            <a:off x="678920" y="859400"/>
            <a:ext cx="5500159" cy="23203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f684714416_4_161:notes"/>
          <p:cNvSpPr txBox="1"/>
          <p:nvPr>
            <p:ph idx="1" type="body"/>
          </p:nvPr>
        </p:nvSpPr>
        <p:spPr>
          <a:xfrm>
            <a:off x="685800" y="3308690"/>
            <a:ext cx="5486400" cy="2707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f684714416_4_161:notes"/>
          <p:cNvSpPr txBox="1"/>
          <p:nvPr>
            <p:ph idx="12" type="sldNum"/>
          </p:nvPr>
        </p:nvSpPr>
        <p:spPr>
          <a:xfrm>
            <a:off x="3884613" y="6530246"/>
            <a:ext cx="2971800" cy="3449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684714416_4_193:notes"/>
          <p:cNvSpPr/>
          <p:nvPr>
            <p:ph idx="2" type="sldImg"/>
          </p:nvPr>
        </p:nvSpPr>
        <p:spPr>
          <a:xfrm>
            <a:off x="678920" y="859400"/>
            <a:ext cx="5500159" cy="23203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f684714416_4_193:notes"/>
          <p:cNvSpPr txBox="1"/>
          <p:nvPr>
            <p:ph idx="1" type="body"/>
          </p:nvPr>
        </p:nvSpPr>
        <p:spPr>
          <a:xfrm>
            <a:off x="685800" y="3308690"/>
            <a:ext cx="5486400" cy="2707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684714416_4_193:notes"/>
          <p:cNvSpPr txBox="1"/>
          <p:nvPr>
            <p:ph idx="12" type="sldNum"/>
          </p:nvPr>
        </p:nvSpPr>
        <p:spPr>
          <a:xfrm>
            <a:off x="3884613" y="6530246"/>
            <a:ext cx="2971800" cy="3449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684714416_4_218:notes"/>
          <p:cNvSpPr/>
          <p:nvPr>
            <p:ph idx="2" type="sldImg"/>
          </p:nvPr>
        </p:nvSpPr>
        <p:spPr>
          <a:xfrm>
            <a:off x="678920" y="859400"/>
            <a:ext cx="5500159" cy="23203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3f684714416_4_218:notes"/>
          <p:cNvSpPr txBox="1"/>
          <p:nvPr>
            <p:ph idx="1" type="body"/>
          </p:nvPr>
        </p:nvSpPr>
        <p:spPr>
          <a:xfrm>
            <a:off x="685800" y="3308690"/>
            <a:ext cx="5486400" cy="2707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f684714416_4_218:notes"/>
          <p:cNvSpPr txBox="1"/>
          <p:nvPr>
            <p:ph idx="12" type="sldNum"/>
          </p:nvPr>
        </p:nvSpPr>
        <p:spPr>
          <a:xfrm>
            <a:off x="3884613" y="6530246"/>
            <a:ext cx="2971800" cy="3449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image" Target="../media/image34.png"/><Relationship Id="rId7" Type="http://schemas.openxmlformats.org/officeDocument/2006/relationships/image" Target="../media/image36.png"/><Relationship Id="rId8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_code_navy_fixed.png"/><Relationship Id="rId4" Type="http://schemas.openxmlformats.org/officeDocument/2006/relationships/image" Target="../media/image41.png"/><Relationship Id="rId5" Type="http://schemas.openxmlformats.org/officeDocument/2006/relationships/image" Target="../media/image38.png"/><Relationship Id="rId6" Type="http://schemas.openxmlformats.org/officeDocument/2006/relationships/image" Target="../media/image48.png"/><Relationship Id="rId7" Type="http://schemas.openxmlformats.org/officeDocument/2006/relationships/image" Target="../media/image50.png"/><Relationship Id="rId8" Type="http://schemas.openxmlformats.org/officeDocument/2006/relationships/image" Target="../media/image68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image" Target="../media/image34.png"/><Relationship Id="rId7" Type="http://schemas.openxmlformats.org/officeDocument/2006/relationships/image" Target="../media/image36.png"/><Relationship Id="rId8" Type="http://schemas.openxmlformats.org/officeDocument/2006/relationships/image" Target="../media/image9.png"/><Relationship Id="rId10" Type="http://schemas.openxmlformats.org/officeDocument/2006/relationships/image" Target="../media/image_code_white_fixed.png"/><Relationship Id="rId11" Type="http://schemas.openxmlformats.org/officeDocument/2006/relationships/image" Target="../media/image8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2228850"/>
            <a:ext cx="9144015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Durgesh Keshri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0" y="2708910"/>
            <a:ext cx="914401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Cloud Engineer, Searce Inc.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1134408" y="3188970"/>
            <a:ext cx="687519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 Engineering Workshop  ·  Bharati Vidyapeeth College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/>
          <p:nvPr/>
        </p:nvSpPr>
        <p:spPr>
          <a:xfrm>
            <a:off x="0" y="1748790"/>
            <a:ext cx="9144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DAY 1  ·  THE BUILDING BLOCKS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0" y="2023110"/>
            <a:ext cx="91440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50016" y="2400300"/>
            <a:ext cx="8043983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Foundations of Generative AI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0" y="3257550"/>
            <a:ext cx="9144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 Engineering Workshop  ·  Bharati Vidyapeeth College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/>
          <p:nvPr/>
        </p:nvSpPr>
        <p:spPr>
          <a:xfrm>
            <a:off x="481264" y="342900"/>
            <a:ext cx="8181487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How an LLM Generates Text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618768" y="1371600"/>
            <a:ext cx="1581296" cy="685800"/>
          </a:xfrm>
          <a:prstGeom prst="roundRect">
            <a:avLst>
              <a:gd fmla="val 8000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5"/>
          <p:cNvSpPr/>
          <p:nvPr/>
        </p:nvSpPr>
        <p:spPr>
          <a:xfrm>
            <a:off x="618768" y="1371600"/>
            <a:ext cx="15812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2956336" y="1371600"/>
            <a:ext cx="1581296" cy="68580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956336" y="1371600"/>
            <a:ext cx="15812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293903" y="1371600"/>
            <a:ext cx="1581296" cy="685800"/>
          </a:xfrm>
          <a:prstGeom prst="roundRect">
            <a:avLst>
              <a:gd fmla="val 8000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5293903" y="1371600"/>
            <a:ext cx="15812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Next Token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arrow-navy.png" id="274" name="Google Shape;2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192" y="1611630"/>
            <a:ext cx="205740" cy="205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module2_ppt/icons/arrow-navy.png" id="275" name="Google Shape;2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0760" y="1611630"/>
            <a:ext cx="205740" cy="2057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25"/>
          <p:cNvCxnSpPr/>
          <p:nvPr/>
        </p:nvCxnSpPr>
        <p:spPr>
          <a:xfrm rot="10800000">
            <a:off x="6084551" y="994410"/>
            <a:ext cx="0" cy="377190"/>
          </a:xfrm>
          <a:prstGeom prst="straightConnector1">
            <a:avLst/>
          </a:prstGeom>
          <a:noFill/>
          <a:ln cap="flat" cmpd="sng" w="19050">
            <a:solidFill>
              <a:srgbClr val="1E276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7" name="Google Shape;277;p25"/>
          <p:cNvCxnSpPr/>
          <p:nvPr/>
        </p:nvCxnSpPr>
        <p:spPr>
          <a:xfrm>
            <a:off x="3746984" y="994410"/>
            <a:ext cx="2337568" cy="0"/>
          </a:xfrm>
          <a:prstGeom prst="straightConnector1">
            <a:avLst/>
          </a:prstGeom>
          <a:noFill/>
          <a:ln cap="flat" cmpd="sng" w="19050">
            <a:solidFill>
              <a:srgbClr val="1E276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8" name="Google Shape;278;p25"/>
          <p:cNvCxnSpPr/>
          <p:nvPr/>
        </p:nvCxnSpPr>
        <p:spPr>
          <a:xfrm>
            <a:off x="3746984" y="994410"/>
            <a:ext cx="0" cy="377190"/>
          </a:xfrm>
          <a:prstGeom prst="straightConnector1">
            <a:avLst/>
          </a:prstGeom>
          <a:noFill/>
          <a:ln cap="flat" cmpd="sng" w="19050">
            <a:solidFill>
              <a:srgbClr val="1E276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79" name="Google Shape;279;p25"/>
          <p:cNvSpPr/>
          <p:nvPr/>
        </p:nvSpPr>
        <p:spPr>
          <a:xfrm>
            <a:off x="2956336" y="706374"/>
            <a:ext cx="3918864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append &amp; repeat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arrow-navy.png" id="280" name="Google Shape;2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3856" y="2160270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/>
          <p:nvPr/>
        </p:nvSpPr>
        <p:spPr>
          <a:xfrm>
            <a:off x="2681328" y="2468880"/>
            <a:ext cx="3781360" cy="445770"/>
          </a:xfrm>
          <a:prstGeom prst="roundRect">
            <a:avLst>
              <a:gd fmla="val 12308" name="adj"/>
            </a:avLst>
          </a:prstGeom>
          <a:solidFill>
            <a:srgbClr val="F4F6FB"/>
          </a:solidFill>
          <a:ln cap="flat" cmpd="sng" w="12700">
            <a:solidFill>
              <a:srgbClr val="1E276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2681328" y="2468880"/>
            <a:ext cx="37813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AI  Engineering  is  fun  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2681328" y="2983230"/>
            <a:ext cx="37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Output grows one token at a time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618768" y="4354830"/>
            <a:ext cx="79064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It’s not “thinking of the whole answer” — it’s one token, over and over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/>
          <p:nvPr/>
        </p:nvSpPr>
        <p:spPr>
          <a:xfrm>
            <a:off x="481264" y="342900"/>
            <a:ext cx="8181487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Tokens &amp; Context Windows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618768" y="1200150"/>
            <a:ext cx="7562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sentence, broken into tokens: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618768" y="1508760"/>
            <a:ext cx="563766" cy="445770"/>
          </a:xfrm>
          <a:prstGeom prst="roundRect">
            <a:avLst>
              <a:gd fmla="val 1230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618768" y="1508760"/>
            <a:ext cx="563766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1265037" y="1508760"/>
            <a:ext cx="1663798" cy="445770"/>
          </a:xfrm>
          <a:prstGeom prst="roundRect">
            <a:avLst>
              <a:gd fmla="val 12308" name="adj"/>
            </a:avLst>
          </a:prstGeom>
          <a:solidFill>
            <a:srgbClr val="3B4694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1265037" y="1508760"/>
            <a:ext cx="1663798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Engineering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3011337" y="1508760"/>
            <a:ext cx="673770" cy="445770"/>
          </a:xfrm>
          <a:prstGeom prst="roundRect">
            <a:avLst>
              <a:gd fmla="val 12308" name="adj"/>
            </a:avLst>
          </a:prstGeom>
          <a:solidFill>
            <a:srgbClr val="5F6BB8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6"/>
          <p:cNvSpPr/>
          <p:nvPr/>
        </p:nvSpPr>
        <p:spPr>
          <a:xfrm>
            <a:off x="3011337" y="1508760"/>
            <a:ext cx="67377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3767609" y="1508760"/>
            <a:ext cx="783773" cy="445770"/>
          </a:xfrm>
          <a:prstGeom prst="roundRect">
            <a:avLst>
              <a:gd fmla="val 12308" name="adj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"/>
          <p:cNvSpPr/>
          <p:nvPr/>
        </p:nvSpPr>
        <p:spPr>
          <a:xfrm>
            <a:off x="3767609" y="1508760"/>
            <a:ext cx="78377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fun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618768" y="2125980"/>
            <a:ext cx="7562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token ≈ a word or word-piece — not always a full 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618768" y="2640330"/>
            <a:ext cx="7562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Context Window — everything the model can “see” at once: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618768" y="2948940"/>
            <a:ext cx="7906479" cy="617220"/>
          </a:xfrm>
          <a:prstGeom prst="roundRect">
            <a:avLst>
              <a:gd fmla="val 8889" name="adj"/>
            </a:avLst>
          </a:prstGeom>
          <a:solidFill>
            <a:srgbClr val="EDEFF7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618768" y="2948940"/>
            <a:ext cx="3162592" cy="617220"/>
          </a:xfrm>
          <a:prstGeom prst="rect">
            <a:avLst/>
          </a:prstGeom>
          <a:solidFill>
            <a:srgbClr val="A7B4E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618768" y="2948940"/>
            <a:ext cx="3162592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Conversation History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3781360" y="2948940"/>
            <a:ext cx="2371944" cy="617220"/>
          </a:xfrm>
          <a:prstGeom prst="rect">
            <a:avLst/>
          </a:prstGeom>
          <a:solidFill>
            <a:srgbClr val="5F6BB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3781360" y="2948940"/>
            <a:ext cx="2371944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Prompt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6153303" y="2948940"/>
            <a:ext cx="2371944" cy="617220"/>
          </a:xfrm>
          <a:prstGeom prst="rect">
            <a:avLst/>
          </a:prstGeom>
          <a:solidFill>
            <a:srgbClr val="1E2761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6153303" y="2948940"/>
            <a:ext cx="2371944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618768" y="3806190"/>
            <a:ext cx="79064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context window is the model’s short-term 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/>
          <p:nvPr/>
        </p:nvSpPr>
        <p:spPr>
          <a:xfrm>
            <a:off x="481264" y="342900"/>
            <a:ext cx="8181487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618768" y="1268730"/>
            <a:ext cx="5018895" cy="2948940"/>
          </a:xfrm>
          <a:prstGeom prst="roundRect">
            <a:avLst>
              <a:gd fmla="val 1860" name="adj"/>
            </a:avLst>
          </a:prstGeom>
          <a:solidFill>
            <a:srgbClr val="FAFBFD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7"/>
          <p:cNvSpPr/>
          <p:nvPr/>
        </p:nvSpPr>
        <p:spPr>
          <a:xfrm>
            <a:off x="1722925" y="2094434"/>
            <a:ext cx="110003" cy="109728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7"/>
          <p:cNvSpPr/>
          <p:nvPr/>
        </p:nvSpPr>
        <p:spPr>
          <a:xfrm>
            <a:off x="1939493" y="2001851"/>
            <a:ext cx="110003" cy="109728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7"/>
          <p:cNvSpPr/>
          <p:nvPr/>
        </p:nvSpPr>
        <p:spPr>
          <a:xfrm>
            <a:off x="1537294" y="2217878"/>
            <a:ext cx="110003" cy="109728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1815740" y="2279600"/>
            <a:ext cx="110003" cy="109728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7"/>
          <p:cNvSpPr/>
          <p:nvPr/>
        </p:nvSpPr>
        <p:spPr>
          <a:xfrm>
            <a:off x="1630109" y="1940129"/>
            <a:ext cx="110003" cy="109728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7"/>
          <p:cNvSpPr/>
          <p:nvPr/>
        </p:nvSpPr>
        <p:spPr>
          <a:xfrm>
            <a:off x="966653" y="2471624"/>
            <a:ext cx="1512544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dog · puppy · canine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4232372" y="2153412"/>
            <a:ext cx="110003" cy="109728"/>
          </a:xfrm>
          <a:prstGeom prst="ellipse">
            <a:avLst/>
          </a:prstGeom>
          <a:solidFill>
            <a:srgbClr val="5F6BB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7"/>
          <p:cNvSpPr/>
          <p:nvPr/>
        </p:nvSpPr>
        <p:spPr>
          <a:xfrm>
            <a:off x="4418003" y="2276856"/>
            <a:ext cx="110003" cy="109728"/>
          </a:xfrm>
          <a:prstGeom prst="ellipse">
            <a:avLst/>
          </a:prstGeom>
          <a:solidFill>
            <a:srgbClr val="5F6BB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7"/>
          <p:cNvSpPr/>
          <p:nvPr/>
        </p:nvSpPr>
        <p:spPr>
          <a:xfrm>
            <a:off x="4077680" y="2060829"/>
            <a:ext cx="110003" cy="109728"/>
          </a:xfrm>
          <a:prstGeom prst="ellipse">
            <a:avLst/>
          </a:prstGeom>
          <a:solidFill>
            <a:srgbClr val="5F6BB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7"/>
          <p:cNvSpPr/>
          <p:nvPr/>
        </p:nvSpPr>
        <p:spPr>
          <a:xfrm>
            <a:off x="4356126" y="1968246"/>
            <a:ext cx="110003" cy="109728"/>
          </a:xfrm>
          <a:prstGeom prst="ellipse">
            <a:avLst/>
          </a:prstGeom>
          <a:solidFill>
            <a:srgbClr val="5F6BB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7"/>
          <p:cNvSpPr/>
          <p:nvPr/>
        </p:nvSpPr>
        <p:spPr>
          <a:xfrm>
            <a:off x="4046742" y="2245995"/>
            <a:ext cx="110003" cy="109728"/>
          </a:xfrm>
          <a:prstGeom prst="ellipse">
            <a:avLst/>
          </a:prstGeom>
          <a:solidFill>
            <a:srgbClr val="5F6BB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7"/>
          <p:cNvSpPr/>
          <p:nvPr/>
        </p:nvSpPr>
        <p:spPr>
          <a:xfrm>
            <a:off x="3476100" y="2530602"/>
            <a:ext cx="1512544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car · vehicle · engine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2877271" y="3480435"/>
            <a:ext cx="110003" cy="109728"/>
          </a:xfrm>
          <a:prstGeom prst="ellipse">
            <a:avLst/>
          </a:prstGeom>
          <a:solidFill>
            <a:srgbClr val="9AA5D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7"/>
          <p:cNvSpPr/>
          <p:nvPr/>
        </p:nvSpPr>
        <p:spPr>
          <a:xfrm>
            <a:off x="3062901" y="3542157"/>
            <a:ext cx="110003" cy="109728"/>
          </a:xfrm>
          <a:prstGeom prst="ellipse">
            <a:avLst/>
          </a:prstGeom>
          <a:solidFill>
            <a:srgbClr val="9AA5D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7"/>
          <p:cNvSpPr/>
          <p:nvPr/>
        </p:nvSpPr>
        <p:spPr>
          <a:xfrm>
            <a:off x="2691641" y="3418713"/>
            <a:ext cx="110003" cy="109728"/>
          </a:xfrm>
          <a:prstGeom prst="ellipse">
            <a:avLst/>
          </a:prstGeom>
          <a:solidFill>
            <a:srgbClr val="9AA5D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7"/>
          <p:cNvSpPr/>
          <p:nvPr/>
        </p:nvSpPr>
        <p:spPr>
          <a:xfrm>
            <a:off x="2939148" y="3295269"/>
            <a:ext cx="110003" cy="109728"/>
          </a:xfrm>
          <a:prstGeom prst="ellipse">
            <a:avLst/>
          </a:prstGeom>
          <a:solidFill>
            <a:srgbClr val="9AA5D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7"/>
          <p:cNvSpPr/>
          <p:nvPr/>
        </p:nvSpPr>
        <p:spPr>
          <a:xfrm>
            <a:off x="2753517" y="3634740"/>
            <a:ext cx="110003" cy="109728"/>
          </a:xfrm>
          <a:prstGeom prst="ellipse">
            <a:avLst/>
          </a:prstGeom>
          <a:solidFill>
            <a:srgbClr val="9AA5D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7"/>
          <p:cNvSpPr/>
          <p:nvPr/>
        </p:nvSpPr>
        <p:spPr>
          <a:xfrm>
            <a:off x="2120999" y="3857625"/>
            <a:ext cx="1512544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happy · joyful · glad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5878295" y="1371600"/>
            <a:ext cx="275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Text becomes a vector of numbers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5878295" y="1817370"/>
            <a:ext cx="27500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Similar meaning → vectors positioned close together (cosine similarity)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5878295" y="2537460"/>
            <a:ext cx="275008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This is what makes semantic search possible — matching by meaning, not exact words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481264" y="342900"/>
            <a:ext cx="8181487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Structured Output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618768" y="1268730"/>
            <a:ext cx="3540728" cy="2811780"/>
          </a:xfrm>
          <a:prstGeom prst="roundRect">
            <a:avLst>
              <a:gd fmla="val 1951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8"/>
          <p:cNvSpPr/>
          <p:nvPr/>
        </p:nvSpPr>
        <p:spPr>
          <a:xfrm>
            <a:off x="825024" y="1440180"/>
            <a:ext cx="3128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Free Text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825024" y="1783080"/>
            <a:ext cx="3128216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Based on the resume, the candidate seems to have strong Python skills, and I would say their experience level is probably around intermediate, maybe 3 years or so, with some gaps in cloud knowledge.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825024" y="3634740"/>
            <a:ext cx="3128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Hard for code to reliably parse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4984519" y="1268730"/>
            <a:ext cx="3540728" cy="2811780"/>
          </a:xfrm>
          <a:prstGeom prst="roundRect">
            <a:avLst>
              <a:gd fmla="val 195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8"/>
          <p:cNvSpPr/>
          <p:nvPr/>
        </p:nvSpPr>
        <p:spPr>
          <a:xfrm>
            <a:off x="5190775" y="1440180"/>
            <a:ext cx="3128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Structured JSON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5190775" y="1783080"/>
            <a:ext cx="3128216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"skill": "Python",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"level": "intermediate",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"years": 3,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"gaps": ["cloud"]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5190775" y="3634740"/>
            <a:ext cx="3128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Direct hand-off to your application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618768" y="4217670"/>
            <a:ext cx="79064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Constraining output to a fixed schema removes fragile string-parsing entirely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/>
          <p:nvPr/>
        </p:nvSpPr>
        <p:spPr>
          <a:xfrm>
            <a:off x="481264" y="342900"/>
            <a:ext cx="8181487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Tool Calling — Overview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481264" y="1440180"/>
            <a:ext cx="1168784" cy="582930"/>
          </a:xfrm>
          <a:prstGeom prst="roundRect">
            <a:avLst>
              <a:gd fmla="val 9412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9"/>
          <p:cNvSpPr/>
          <p:nvPr/>
        </p:nvSpPr>
        <p:spPr>
          <a:xfrm>
            <a:off x="481264" y="1440180"/>
            <a:ext cx="1168784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1959432" y="1440180"/>
            <a:ext cx="1306288" cy="58293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9"/>
          <p:cNvSpPr/>
          <p:nvPr/>
        </p:nvSpPr>
        <p:spPr>
          <a:xfrm>
            <a:off x="1959432" y="1440180"/>
            <a:ext cx="1306288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3575104" y="1289304"/>
            <a:ext cx="1375040" cy="891540"/>
          </a:xfrm>
          <a:prstGeom prst="diamond">
            <a:avLst/>
          </a:prstGeom>
          <a:solidFill>
            <a:srgbClr val="EDEFF7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9"/>
          <p:cNvSpPr/>
          <p:nvPr/>
        </p:nvSpPr>
        <p:spPr>
          <a:xfrm>
            <a:off x="3575104" y="1289304"/>
            <a:ext cx="137504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Needs 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tool?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259527" y="1440180"/>
            <a:ext cx="1306288" cy="582930"/>
          </a:xfrm>
          <a:prstGeom prst="roundRect">
            <a:avLst>
              <a:gd fmla="val 9412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9"/>
          <p:cNvSpPr/>
          <p:nvPr/>
        </p:nvSpPr>
        <p:spPr>
          <a:xfrm>
            <a:off x="5761417" y="1097280"/>
            <a:ext cx="302509" cy="30175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wrench-white.png" id="367" name="Google Shape;36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482" y="1165175"/>
            <a:ext cx="165964" cy="16596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9"/>
          <p:cNvSpPr/>
          <p:nvPr/>
        </p:nvSpPr>
        <p:spPr>
          <a:xfrm>
            <a:off x="5259527" y="1440180"/>
            <a:ext cx="1306288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Tool Executes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6840823" y="1440180"/>
            <a:ext cx="1306288" cy="582930"/>
          </a:xfrm>
          <a:prstGeom prst="roundRect">
            <a:avLst>
              <a:gd fmla="val 9412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9"/>
          <p:cNvSpPr/>
          <p:nvPr/>
        </p:nvSpPr>
        <p:spPr>
          <a:xfrm>
            <a:off x="6840823" y="1440180"/>
            <a:ext cx="1306288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arrow-navy.png" id="371" name="Google Shape;37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5049" y="1628775"/>
            <a:ext cx="192024" cy="192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module2_ppt/icons/arrow-navy.png" id="372" name="Google Shape;37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0721" y="1628775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9"/>
          <p:cNvSpPr/>
          <p:nvPr/>
        </p:nvSpPr>
        <p:spPr>
          <a:xfrm>
            <a:off x="4950143" y="1453896"/>
            <a:ext cx="30938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arrow-navy.png" id="374" name="Google Shape;37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5145" y="1628775"/>
            <a:ext cx="192024" cy="192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module2_ppt/icons/arrow-navy.png" id="375" name="Google Shape;37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0817" y="1628775"/>
            <a:ext cx="192024" cy="192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6" name="Google Shape;376;p29"/>
          <p:cNvCxnSpPr/>
          <p:nvPr/>
        </p:nvCxnSpPr>
        <p:spPr>
          <a:xfrm>
            <a:off x="7493967" y="2023110"/>
            <a:ext cx="0" cy="377190"/>
          </a:xfrm>
          <a:prstGeom prst="straightConnector1">
            <a:avLst/>
          </a:prstGeom>
          <a:noFill/>
          <a:ln cap="flat" cmpd="sng" w="19050">
            <a:solidFill>
              <a:srgbClr val="1E276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7" name="Google Shape;377;p29"/>
          <p:cNvCxnSpPr/>
          <p:nvPr/>
        </p:nvCxnSpPr>
        <p:spPr>
          <a:xfrm>
            <a:off x="2612576" y="2400300"/>
            <a:ext cx="4881391" cy="0"/>
          </a:xfrm>
          <a:prstGeom prst="straightConnector1">
            <a:avLst/>
          </a:prstGeom>
          <a:noFill/>
          <a:ln cap="flat" cmpd="sng" w="19050">
            <a:solidFill>
              <a:srgbClr val="1E276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8" name="Google Shape;378;p29"/>
          <p:cNvCxnSpPr/>
          <p:nvPr/>
        </p:nvCxnSpPr>
        <p:spPr>
          <a:xfrm>
            <a:off x="2612576" y="2023110"/>
            <a:ext cx="0" cy="377190"/>
          </a:xfrm>
          <a:prstGeom prst="straightConnector1">
            <a:avLst/>
          </a:prstGeom>
          <a:noFill/>
          <a:ln cap="flat" cmpd="sng" w="19050">
            <a:solidFill>
              <a:srgbClr val="1E276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79" name="Google Shape;379;p29"/>
          <p:cNvCxnSpPr/>
          <p:nvPr/>
        </p:nvCxnSpPr>
        <p:spPr>
          <a:xfrm>
            <a:off x="2612576" y="2400300"/>
            <a:ext cx="0" cy="1097280"/>
          </a:xfrm>
          <a:prstGeom prst="straightConnector1">
            <a:avLst/>
          </a:prstGeom>
          <a:noFill/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0" name="Google Shape;380;p29"/>
          <p:cNvSpPr/>
          <p:nvPr/>
        </p:nvSpPr>
        <p:spPr>
          <a:xfrm>
            <a:off x="3368848" y="3497580"/>
            <a:ext cx="2406320" cy="548640"/>
          </a:xfrm>
          <a:prstGeom prst="roundRect">
            <a:avLst>
              <a:gd fmla="val 1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9"/>
          <p:cNvSpPr/>
          <p:nvPr/>
        </p:nvSpPr>
        <p:spPr>
          <a:xfrm>
            <a:off x="3368848" y="3497580"/>
            <a:ext cx="240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Answer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9"/>
          <p:cNvSpPr/>
          <p:nvPr/>
        </p:nvSpPr>
        <p:spPr>
          <a:xfrm>
            <a:off x="618768" y="4114800"/>
            <a:ext cx="79064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If no tool is needed, the model skips straight to the final answer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9"/>
          <p:cNvSpPr/>
          <p:nvPr/>
        </p:nvSpPr>
        <p:spPr>
          <a:xfrm>
            <a:off x="618768" y="4389120"/>
            <a:ext cx="79064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This is what turns a chatbot into something that can 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"/>
          <p:cNvSpPr/>
          <p:nvPr/>
        </p:nvSpPr>
        <p:spPr>
          <a:xfrm>
            <a:off x="481264" y="342900"/>
            <a:ext cx="8181487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RAG — Overview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0"/>
          <p:cNvSpPr/>
          <p:nvPr/>
        </p:nvSpPr>
        <p:spPr>
          <a:xfrm>
            <a:off x="790648" y="1714500"/>
            <a:ext cx="584392" cy="58293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question-white.png" id="391" name="Google Shape;3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746" y="18602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0"/>
          <p:cNvSpPr/>
          <p:nvPr/>
        </p:nvSpPr>
        <p:spPr>
          <a:xfrm>
            <a:off x="378136" y="2366010"/>
            <a:ext cx="140941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arrow-navy.png" id="393" name="Google Shape;39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5049" y="192024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0"/>
          <p:cNvSpPr/>
          <p:nvPr/>
        </p:nvSpPr>
        <p:spPr>
          <a:xfrm>
            <a:off x="2186313" y="1714500"/>
            <a:ext cx="584392" cy="58293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layer-white.png" id="395" name="Google Shape;39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32411" y="18602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0"/>
          <p:cNvSpPr/>
          <p:nvPr/>
        </p:nvSpPr>
        <p:spPr>
          <a:xfrm>
            <a:off x="1773801" y="2366010"/>
            <a:ext cx="140941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arrow-navy.png" id="397" name="Google Shape;39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0715" y="192024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0"/>
          <p:cNvSpPr/>
          <p:nvPr/>
        </p:nvSpPr>
        <p:spPr>
          <a:xfrm>
            <a:off x="3581979" y="1714500"/>
            <a:ext cx="584392" cy="58293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search-white.png" id="399" name="Google Shape;399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28077" y="18602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0"/>
          <p:cNvSpPr/>
          <p:nvPr/>
        </p:nvSpPr>
        <p:spPr>
          <a:xfrm>
            <a:off x="3169467" y="2366010"/>
            <a:ext cx="140941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Vector 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arrow-navy.png" id="401" name="Google Shape;40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6380" y="192024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0"/>
          <p:cNvSpPr/>
          <p:nvPr/>
        </p:nvSpPr>
        <p:spPr>
          <a:xfrm>
            <a:off x="4977644" y="1714500"/>
            <a:ext cx="584392" cy="58293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filealt-white.png" id="403" name="Google Shape;40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23742" y="18602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0"/>
          <p:cNvSpPr/>
          <p:nvPr/>
        </p:nvSpPr>
        <p:spPr>
          <a:xfrm>
            <a:off x="4565132" y="2366010"/>
            <a:ext cx="140941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Top-k Chunks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arrow-navy.png" id="405" name="Google Shape;40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2046" y="192024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0"/>
          <p:cNvSpPr/>
          <p:nvPr/>
        </p:nvSpPr>
        <p:spPr>
          <a:xfrm>
            <a:off x="6373310" y="1714500"/>
            <a:ext cx="584392" cy="58293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brain-white.png" id="407" name="Google Shape;407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9408" y="18602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0"/>
          <p:cNvSpPr/>
          <p:nvPr/>
        </p:nvSpPr>
        <p:spPr>
          <a:xfrm>
            <a:off x="5960798" y="2366010"/>
            <a:ext cx="140941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Model +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arrow-navy.png" id="409" name="Google Shape;40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7711" y="192024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0"/>
          <p:cNvSpPr/>
          <p:nvPr/>
        </p:nvSpPr>
        <p:spPr>
          <a:xfrm>
            <a:off x="7768975" y="1714500"/>
            <a:ext cx="584392" cy="58293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check-navy.png" id="411" name="Google Shape;411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15073" y="18602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0"/>
          <p:cNvSpPr/>
          <p:nvPr/>
        </p:nvSpPr>
        <p:spPr>
          <a:xfrm>
            <a:off x="7356463" y="2366010"/>
            <a:ext cx="140941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Grounded Answer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618768" y="2880360"/>
            <a:ext cx="790647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Retrieval happens before generation — the model answers using retrieved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0"/>
          <p:cNvSpPr/>
          <p:nvPr/>
        </p:nvSpPr>
        <p:spPr>
          <a:xfrm>
            <a:off x="618768" y="3188970"/>
            <a:ext cx="790647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Solves a core LLM limitation: models don’t know your private or recent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"/>
          <p:cNvSpPr/>
          <p:nvPr/>
        </p:nvSpPr>
        <p:spPr>
          <a:xfrm>
            <a:off x="481264" y="342900"/>
            <a:ext cx="8181487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Model Context Protocol (MCP) — Overview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618768" y="1783080"/>
            <a:ext cx="1787552" cy="685800"/>
          </a:xfrm>
          <a:prstGeom prst="roundRect">
            <a:avLst>
              <a:gd fmla="val 8000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1"/>
          <p:cNvSpPr/>
          <p:nvPr/>
        </p:nvSpPr>
        <p:spPr>
          <a:xfrm>
            <a:off x="790648" y="1954530"/>
            <a:ext cx="343760" cy="3429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robot-white.png" id="423" name="Google Shape;42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588" y="204025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1"/>
          <p:cNvSpPr/>
          <p:nvPr/>
        </p:nvSpPr>
        <p:spPr>
          <a:xfrm>
            <a:off x="1237536" y="1783080"/>
            <a:ext cx="11000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AI 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1"/>
          <p:cNvSpPr/>
          <p:nvPr/>
        </p:nvSpPr>
        <p:spPr>
          <a:xfrm>
            <a:off x="3678232" y="1783080"/>
            <a:ext cx="1787552" cy="68580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1"/>
          <p:cNvSpPr/>
          <p:nvPr/>
        </p:nvSpPr>
        <p:spPr>
          <a:xfrm>
            <a:off x="3850112" y="1954530"/>
            <a:ext cx="343760" cy="34290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server-navy.png" id="427" name="Google Shape;42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6052" y="204025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1"/>
          <p:cNvSpPr/>
          <p:nvPr/>
        </p:nvSpPr>
        <p:spPr>
          <a:xfrm>
            <a:off x="4297000" y="1783080"/>
            <a:ext cx="11000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exchange-navy.png" id="429" name="Google Shape;42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9448" y="2002536"/>
            <a:ext cx="27500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1"/>
          <p:cNvSpPr/>
          <p:nvPr/>
        </p:nvSpPr>
        <p:spPr>
          <a:xfrm>
            <a:off x="6462687" y="1543050"/>
            <a:ext cx="1993808" cy="514350"/>
          </a:xfrm>
          <a:prstGeom prst="roundRect">
            <a:avLst>
              <a:gd fmla="val 1066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1"/>
          <p:cNvSpPr/>
          <p:nvPr/>
        </p:nvSpPr>
        <p:spPr>
          <a:xfrm>
            <a:off x="6565815" y="1543050"/>
            <a:ext cx="178755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Database Tool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31"/>
          <p:cNvCxnSpPr/>
          <p:nvPr/>
        </p:nvCxnSpPr>
        <p:spPr>
          <a:xfrm flipH="1" rot="10800000">
            <a:off x="5465783" y="1800225"/>
            <a:ext cx="996904" cy="325755"/>
          </a:xfrm>
          <a:prstGeom prst="straightConnector1">
            <a:avLst/>
          </a:prstGeom>
          <a:noFill/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31"/>
          <p:cNvSpPr/>
          <p:nvPr/>
        </p:nvSpPr>
        <p:spPr>
          <a:xfrm>
            <a:off x="6462687" y="2228850"/>
            <a:ext cx="1993808" cy="514350"/>
          </a:xfrm>
          <a:prstGeom prst="roundRect">
            <a:avLst>
              <a:gd fmla="val 1066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1"/>
          <p:cNvSpPr/>
          <p:nvPr/>
        </p:nvSpPr>
        <p:spPr>
          <a:xfrm>
            <a:off x="6565815" y="2228850"/>
            <a:ext cx="178755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Calendar Tool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31"/>
          <p:cNvCxnSpPr/>
          <p:nvPr/>
        </p:nvCxnSpPr>
        <p:spPr>
          <a:xfrm>
            <a:off x="5465783" y="2125980"/>
            <a:ext cx="996904" cy="360045"/>
          </a:xfrm>
          <a:prstGeom prst="straightConnector1">
            <a:avLst/>
          </a:prstGeom>
          <a:noFill/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31"/>
          <p:cNvSpPr/>
          <p:nvPr/>
        </p:nvSpPr>
        <p:spPr>
          <a:xfrm>
            <a:off x="6462687" y="2914650"/>
            <a:ext cx="1993808" cy="514350"/>
          </a:xfrm>
          <a:prstGeom prst="roundRect">
            <a:avLst>
              <a:gd fmla="val 1066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1"/>
          <p:cNvSpPr/>
          <p:nvPr/>
        </p:nvSpPr>
        <p:spPr>
          <a:xfrm>
            <a:off x="6565815" y="2914650"/>
            <a:ext cx="178755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Search Tool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p31"/>
          <p:cNvCxnSpPr/>
          <p:nvPr/>
        </p:nvCxnSpPr>
        <p:spPr>
          <a:xfrm>
            <a:off x="5465783" y="2125980"/>
            <a:ext cx="996904" cy="1045845"/>
          </a:xfrm>
          <a:prstGeom prst="straightConnector1">
            <a:avLst/>
          </a:prstGeom>
          <a:noFill/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" name="Google Shape;439;p31"/>
          <p:cNvSpPr/>
          <p:nvPr/>
        </p:nvSpPr>
        <p:spPr>
          <a:xfrm>
            <a:off x="618768" y="3497580"/>
            <a:ext cx="790647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Client discovers available tools and how to call them — no custom integration per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1"/>
          <p:cNvSpPr/>
          <p:nvPr/>
        </p:nvSpPr>
        <p:spPr>
          <a:xfrm>
            <a:off x="618768" y="3943350"/>
            <a:ext cx="79064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Write the tool once, any MCP-compatible AI can use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"/>
          <p:cNvSpPr/>
          <p:nvPr/>
        </p:nvSpPr>
        <p:spPr>
          <a:xfrm>
            <a:off x="481264" y="342900"/>
            <a:ext cx="8181487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How These Pieces Fit Together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2"/>
          <p:cNvSpPr/>
          <p:nvPr/>
        </p:nvSpPr>
        <p:spPr>
          <a:xfrm>
            <a:off x="3936052" y="2005965"/>
            <a:ext cx="1271912" cy="126873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2"/>
          <p:cNvSpPr/>
          <p:nvPr/>
        </p:nvSpPr>
        <p:spPr>
          <a:xfrm>
            <a:off x="3936052" y="2005965"/>
            <a:ext cx="1271912" cy="1268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9" name="Google Shape;449;p32"/>
          <p:cNvCxnSpPr/>
          <p:nvPr/>
        </p:nvCxnSpPr>
        <p:spPr>
          <a:xfrm>
            <a:off x="2435532" y="1900354"/>
            <a:ext cx="1522122" cy="527192"/>
          </a:xfrm>
          <a:prstGeom prst="straightConnector1">
            <a:avLst/>
          </a:prstGeom>
          <a:noFill/>
          <a:ln cap="flat" cmpd="sng" w="19050">
            <a:solidFill>
              <a:srgbClr val="C7CD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32"/>
          <p:cNvCxnSpPr/>
          <p:nvPr/>
        </p:nvCxnSpPr>
        <p:spPr>
          <a:xfrm>
            <a:off x="4572008" y="1882264"/>
            <a:ext cx="0" cy="102906"/>
          </a:xfrm>
          <a:prstGeom prst="straightConnector1">
            <a:avLst/>
          </a:prstGeom>
          <a:noFill/>
          <a:ln cap="flat" cmpd="sng" w="19050">
            <a:solidFill>
              <a:srgbClr val="C7CD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32"/>
          <p:cNvCxnSpPr/>
          <p:nvPr/>
        </p:nvCxnSpPr>
        <p:spPr>
          <a:xfrm flipH="1">
            <a:off x="5186362" y="1900354"/>
            <a:ext cx="1522121" cy="527192"/>
          </a:xfrm>
          <a:prstGeom prst="straightConnector1">
            <a:avLst/>
          </a:prstGeom>
          <a:noFill/>
          <a:ln cap="flat" cmpd="sng" w="19050">
            <a:solidFill>
              <a:srgbClr val="C7CD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32"/>
          <p:cNvCxnSpPr/>
          <p:nvPr/>
        </p:nvCxnSpPr>
        <p:spPr>
          <a:xfrm flipH="1">
            <a:off x="2435532" y="2853114"/>
            <a:ext cx="1522122" cy="527192"/>
          </a:xfrm>
          <a:prstGeom prst="straightConnector1">
            <a:avLst/>
          </a:prstGeom>
          <a:noFill/>
          <a:ln cap="flat" cmpd="sng" w="19050">
            <a:solidFill>
              <a:srgbClr val="C7CD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32"/>
          <p:cNvCxnSpPr/>
          <p:nvPr/>
        </p:nvCxnSpPr>
        <p:spPr>
          <a:xfrm>
            <a:off x="4572008" y="3290490"/>
            <a:ext cx="0" cy="191660"/>
          </a:xfrm>
          <a:prstGeom prst="straightConnector1">
            <a:avLst/>
          </a:prstGeom>
          <a:noFill/>
          <a:ln cap="flat" cmpd="sng" w="19050">
            <a:solidFill>
              <a:srgbClr val="C7CD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32"/>
          <p:cNvCxnSpPr/>
          <p:nvPr/>
        </p:nvCxnSpPr>
        <p:spPr>
          <a:xfrm>
            <a:off x="5186362" y="2853114"/>
            <a:ext cx="1522121" cy="527192"/>
          </a:xfrm>
          <a:prstGeom prst="straightConnector1">
            <a:avLst/>
          </a:prstGeom>
          <a:noFill/>
          <a:ln cap="flat" cmpd="sng" w="19050">
            <a:solidFill>
              <a:srgbClr val="C7CD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5" name="Google Shape;455;p32"/>
          <p:cNvSpPr/>
          <p:nvPr/>
        </p:nvSpPr>
        <p:spPr>
          <a:xfrm>
            <a:off x="1753176" y="1440180"/>
            <a:ext cx="687520" cy="6858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code-navy.png" id="456" name="Google Shape;45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5056" y="161163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2"/>
          <p:cNvSpPr/>
          <p:nvPr/>
        </p:nvSpPr>
        <p:spPr>
          <a:xfrm>
            <a:off x="1753176" y="1440180"/>
            <a:ext cx="687520" cy="685800"/>
          </a:xfrm>
          <a:prstGeom prst="ellipse">
            <a:avLst/>
          </a:prstGeom>
          <a:noFill/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2"/>
          <p:cNvSpPr/>
          <p:nvPr/>
        </p:nvSpPr>
        <p:spPr>
          <a:xfrm>
            <a:off x="1340664" y="2180844"/>
            <a:ext cx="1512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Tokens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2"/>
          <p:cNvSpPr/>
          <p:nvPr/>
        </p:nvSpPr>
        <p:spPr>
          <a:xfrm>
            <a:off x="4228248" y="847280"/>
            <a:ext cx="687520" cy="6858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layer-navy.png" id="460" name="Google Shape;46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0128" y="101873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2"/>
          <p:cNvSpPr/>
          <p:nvPr/>
        </p:nvSpPr>
        <p:spPr>
          <a:xfrm>
            <a:off x="4228248" y="847280"/>
            <a:ext cx="687520" cy="685800"/>
          </a:xfrm>
          <a:prstGeom prst="ellipse">
            <a:avLst/>
          </a:prstGeom>
          <a:noFill/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2"/>
          <p:cNvSpPr/>
          <p:nvPr/>
        </p:nvSpPr>
        <p:spPr>
          <a:xfrm>
            <a:off x="3815736" y="1587944"/>
            <a:ext cx="1512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2"/>
          <p:cNvSpPr/>
          <p:nvPr/>
        </p:nvSpPr>
        <p:spPr>
          <a:xfrm>
            <a:off x="6703319" y="1440180"/>
            <a:ext cx="687520" cy="6858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check-navy.png" id="464" name="Google Shape;46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5199" y="161163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2"/>
          <p:cNvSpPr/>
          <p:nvPr/>
        </p:nvSpPr>
        <p:spPr>
          <a:xfrm>
            <a:off x="6703319" y="1440180"/>
            <a:ext cx="687520" cy="685800"/>
          </a:xfrm>
          <a:prstGeom prst="ellipse">
            <a:avLst/>
          </a:prstGeom>
          <a:noFill/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2"/>
          <p:cNvSpPr/>
          <p:nvPr/>
        </p:nvSpPr>
        <p:spPr>
          <a:xfrm>
            <a:off x="6290807" y="2180844"/>
            <a:ext cx="1512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Structured 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2"/>
          <p:cNvSpPr/>
          <p:nvPr/>
        </p:nvSpPr>
        <p:spPr>
          <a:xfrm>
            <a:off x="1753176" y="3154680"/>
            <a:ext cx="687520" cy="6858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wrench-navy.png" id="468" name="Google Shape;46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25056" y="332613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2"/>
          <p:cNvSpPr/>
          <p:nvPr/>
        </p:nvSpPr>
        <p:spPr>
          <a:xfrm>
            <a:off x="1753176" y="3154680"/>
            <a:ext cx="687520" cy="685800"/>
          </a:xfrm>
          <a:prstGeom prst="ellipse">
            <a:avLst/>
          </a:prstGeom>
          <a:noFill/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2"/>
          <p:cNvSpPr/>
          <p:nvPr/>
        </p:nvSpPr>
        <p:spPr>
          <a:xfrm>
            <a:off x="1340664" y="3895344"/>
            <a:ext cx="1512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Tool Calling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4228248" y="3497580"/>
            <a:ext cx="687520" cy="6858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search-navy.png" id="472" name="Google Shape;472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00128" y="366903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2"/>
          <p:cNvSpPr/>
          <p:nvPr/>
        </p:nvSpPr>
        <p:spPr>
          <a:xfrm>
            <a:off x="4228248" y="3497580"/>
            <a:ext cx="687520" cy="685800"/>
          </a:xfrm>
          <a:prstGeom prst="ellipse">
            <a:avLst/>
          </a:prstGeom>
          <a:noFill/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2"/>
          <p:cNvSpPr/>
          <p:nvPr/>
        </p:nvSpPr>
        <p:spPr>
          <a:xfrm>
            <a:off x="3815736" y="4238244"/>
            <a:ext cx="1512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2"/>
          <p:cNvSpPr/>
          <p:nvPr/>
        </p:nvSpPr>
        <p:spPr>
          <a:xfrm>
            <a:off x="6703319" y="3154680"/>
            <a:ext cx="687520" cy="6858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plug-navy.png" id="476" name="Google Shape;476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75199" y="332613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2"/>
          <p:cNvSpPr/>
          <p:nvPr/>
        </p:nvSpPr>
        <p:spPr>
          <a:xfrm>
            <a:off x="6703319" y="3154680"/>
            <a:ext cx="687520" cy="685800"/>
          </a:xfrm>
          <a:prstGeom prst="ellipse">
            <a:avLst/>
          </a:prstGeom>
          <a:noFill/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2"/>
          <p:cNvSpPr/>
          <p:nvPr/>
        </p:nvSpPr>
        <p:spPr>
          <a:xfrm>
            <a:off x="6290807" y="3895344"/>
            <a:ext cx="1512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Model Context Protocol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"/>
          <p:cNvSpPr/>
          <p:nvPr/>
        </p:nvSpPr>
        <p:spPr>
          <a:xfrm>
            <a:off x="481264" y="342900"/>
            <a:ext cx="8181487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RAG — Preparing the Data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0"/>
          <p:cNvSpPr/>
          <p:nvPr/>
        </p:nvSpPr>
        <p:spPr>
          <a:xfrm>
            <a:off x="790648" y="1714500"/>
            <a:ext cx="584392" cy="58293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filealt-white.png" id="391" name="Google Shape;39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6746" y="18602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0"/>
          <p:cNvSpPr/>
          <p:nvPr/>
        </p:nvSpPr>
        <p:spPr>
          <a:xfrm>
            <a:off x="378136" y="2366010"/>
            <a:ext cx="140941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Documents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arrow-navy.png" id="393" name="Google Shape;39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9697" y="192024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0"/>
          <p:cNvSpPr/>
          <p:nvPr/>
        </p:nvSpPr>
        <p:spPr>
          <a:xfrm>
            <a:off x="2535230" y="1714500"/>
            <a:ext cx="584392" cy="58293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code-white.png" id="395" name="Google Shape;395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81328" y="18602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0"/>
          <p:cNvSpPr/>
          <p:nvPr/>
        </p:nvSpPr>
        <p:spPr>
          <a:xfrm>
            <a:off x="2122718" y="2366010"/>
            <a:ext cx="140941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Parse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arrow-navy.png" id="397" name="Google Shape;39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4279" y="192024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0"/>
          <p:cNvSpPr/>
          <p:nvPr/>
        </p:nvSpPr>
        <p:spPr>
          <a:xfrm>
            <a:off x="4279812" y="1714500"/>
            <a:ext cx="584392" cy="58293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layer-white.png" id="399" name="Google Shape;39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5910" y="18602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0"/>
          <p:cNvSpPr/>
          <p:nvPr/>
        </p:nvSpPr>
        <p:spPr>
          <a:xfrm>
            <a:off x="3867300" y="2366010"/>
            <a:ext cx="140941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arrow-navy.png" id="401" name="Google Shape;40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8861" y="192024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0"/>
          <p:cNvSpPr/>
          <p:nvPr/>
        </p:nvSpPr>
        <p:spPr>
          <a:xfrm>
            <a:off x="6024394" y="1714500"/>
            <a:ext cx="584392" cy="58293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brain-white.png" id="403" name="Google Shape;40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70492" y="18602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0"/>
          <p:cNvSpPr/>
          <p:nvPr/>
        </p:nvSpPr>
        <p:spPr>
          <a:xfrm>
            <a:off x="5611882" y="2366010"/>
            <a:ext cx="140941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ule2_ppt/icons/arrow-navy.png" id="405" name="Google Shape;40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3443" y="192024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0"/>
          <p:cNvSpPr/>
          <p:nvPr/>
        </p:nvSpPr>
        <p:spPr>
          <a:xfrm>
            <a:off x="7768976" y="1714500"/>
            <a:ext cx="584392" cy="58293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odule2_ppt/icons/database-white.png" id="407" name="Google Shape;407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15074" y="18602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0"/>
          <p:cNvSpPr/>
          <p:nvPr/>
        </p:nvSpPr>
        <p:spPr>
          <a:xfrm>
            <a:off x="7356464" y="2366010"/>
            <a:ext cx="1409416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Vector 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618768" y="2880360"/>
            <a:ext cx="790647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This happens once, offline — long before anyone asks a question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0"/>
          <p:cNvSpPr/>
          <p:nvPr/>
        </p:nvSpPr>
        <p:spPr>
          <a:xfrm>
            <a:off x="618768" y="3188970"/>
            <a:ext cx="790647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Solves the other half of RAG: how your data gets in, not just how it’s found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0" y="1748790"/>
            <a:ext cx="9144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NEXT STEP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0" y="2023110"/>
            <a:ext cx="91440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From concepts to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550016" y="2400300"/>
            <a:ext cx="8043983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mbria"/>
              <a:buNone/>
            </a:pPr>
            <a:r>
              <a:rPr b="1" i="0" lang="en" sz="3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Hands-on Workshop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0" y="3257550"/>
            <a:ext cx="9144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 Engineering Workshop  ·  Bharati Vidyapeeth College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